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C2C7D-69F1-47C0-A78C-BC104CFC4F38}" v="25" dt="2026-03-28T13:31:20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凪 稲葉" userId="53d8837c44da4dda" providerId="LiveId" clId="{F82856EF-F278-478E-A4FF-180017A75436}"/>
    <pc:docChg chg="undo custSel modSld">
      <pc:chgData name="凪 稲葉" userId="53d8837c44da4dda" providerId="LiveId" clId="{F82856EF-F278-478E-A4FF-180017A75436}" dt="2026-03-28T13:31:23.419" v="423" actId="14100"/>
      <pc:docMkLst>
        <pc:docMk/>
      </pc:docMkLst>
      <pc:sldChg chg="modSp mod">
        <pc:chgData name="凪 稲葉" userId="53d8837c44da4dda" providerId="LiveId" clId="{F82856EF-F278-478E-A4FF-180017A75436}" dt="2026-03-28T13:20:14.429" v="217" actId="403"/>
        <pc:sldMkLst>
          <pc:docMk/>
          <pc:sldMk cId="0" sldId="257"/>
        </pc:sldMkLst>
        <pc:spChg chg="mod">
          <ac:chgData name="凪 稲葉" userId="53d8837c44da4dda" providerId="LiveId" clId="{F82856EF-F278-478E-A4FF-180017A75436}" dt="2026-03-28T13:20:14.429" v="217" actId="403"/>
          <ac:spMkLst>
            <pc:docMk/>
            <pc:sldMk cId="0" sldId="257"/>
            <ac:spMk id="4" creationId="{00000000-0000-0000-0000-000000000000}"/>
          </ac:spMkLst>
        </pc:spChg>
        <pc:spChg chg="mod">
          <ac:chgData name="凪 稲葉" userId="53d8837c44da4dda" providerId="LiveId" clId="{F82856EF-F278-478E-A4FF-180017A75436}" dt="2026-03-28T13:19:31.236" v="213" actId="404"/>
          <ac:spMkLst>
            <pc:docMk/>
            <pc:sldMk cId="0" sldId="257"/>
            <ac:spMk id="5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4:59.659" v="61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4:44.801" v="58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6:24.906" v="69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5:19.330" v="6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6:29.356" v="71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5:19.330" v="6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8:12.770" v="186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凪 稲葉" userId="53d8837c44da4dda" providerId="LiveId" clId="{F82856EF-F278-478E-A4FF-180017A75436}" dt="2026-03-28T13:20:19.916" v="218" actId="1076"/>
        <pc:sldMkLst>
          <pc:docMk/>
          <pc:sldMk cId="0" sldId="258"/>
        </pc:sldMkLst>
        <pc:spChg chg="mod">
          <ac:chgData name="凪 稲葉" userId="53d8837c44da4dda" providerId="LiveId" clId="{F82856EF-F278-478E-A4FF-180017A75436}" dt="2026-03-28T13:20:19.916" v="218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8:52.968" v="187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8:56.885" v="188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9:00.011" v="190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9:03.518" v="191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9:13.918" v="192" actId="1076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凪 稲葉" userId="53d8837c44da4dda" providerId="LiveId" clId="{F82856EF-F278-478E-A4FF-180017A75436}" dt="2026-03-28T13:22:39.252" v="227" actId="403"/>
        <pc:sldMkLst>
          <pc:docMk/>
          <pc:sldMk cId="0" sldId="259"/>
        </pc:sldMkLst>
        <pc:spChg chg="mod">
          <ac:chgData name="凪 稲葉" userId="53d8837c44da4dda" providerId="LiveId" clId="{F82856EF-F278-478E-A4FF-180017A75436}" dt="2026-03-28T13:22:39.252" v="227" actId="403"/>
          <ac:spMkLst>
            <pc:docMk/>
            <pc:sldMk cId="0" sldId="259"/>
            <ac:spMk id="4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11.966" v="20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05.980" v="199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凪 稲葉" userId="53d8837c44da4dda" providerId="LiveId" clId="{F82856EF-F278-478E-A4FF-180017A75436}" dt="2026-03-28T03:19:59.100" v="197" actId="1076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凪 稲葉" userId="53d8837c44da4dda" providerId="LiveId" clId="{F82856EF-F278-478E-A4FF-180017A75436}" dt="2026-03-28T13:22:30.210" v="223" actId="404"/>
        <pc:sldMkLst>
          <pc:docMk/>
          <pc:sldMk cId="0" sldId="260"/>
        </pc:sldMkLst>
        <pc:spChg chg="mod">
          <ac:chgData name="凪 稲葉" userId="53d8837c44da4dda" providerId="LiveId" clId="{F82856EF-F278-478E-A4FF-180017A75436}" dt="2026-03-28T13:22:30.210" v="223" actId="404"/>
          <ac:spMkLst>
            <pc:docMk/>
            <pc:sldMk cId="0" sldId="260"/>
            <ac:spMk id="4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1:20.731" v="21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37.590" v="203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1:10.227" v="210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41.015" v="204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1:07.165" v="209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43.899" v="205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2:02.012" v="219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56.353" v="20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29.738" v="202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凪 稲葉" userId="53d8837c44da4dda" providerId="LiveId" clId="{F82856EF-F278-478E-A4FF-180017A75436}" dt="2026-03-28T03:20:26.350" v="201" actId="403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凪 稲葉" userId="53d8837c44da4dda" providerId="LiveId" clId="{F82856EF-F278-478E-A4FF-180017A75436}" dt="2026-03-28T13:22:21.569" v="221" actId="404"/>
        <pc:sldMkLst>
          <pc:docMk/>
          <pc:sldMk cId="0" sldId="261"/>
        </pc:sldMkLst>
        <pc:spChg chg="mod">
          <ac:chgData name="凪 稲葉" userId="53d8837c44da4dda" providerId="LiveId" clId="{F82856EF-F278-478E-A4FF-180017A75436}" dt="2026-03-28T13:22:21.569" v="221" actId="404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凪 稲葉" userId="53d8837c44da4dda" providerId="LiveId" clId="{F82856EF-F278-478E-A4FF-180017A75436}" dt="2026-03-28T13:29:54.087" v="402" actId="20577"/>
        <pc:sldMkLst>
          <pc:docMk/>
          <pc:sldMk cId="0" sldId="262"/>
        </pc:sldMkLst>
        <pc:spChg chg="mod">
          <ac:chgData name="凪 稲葉" userId="53d8837c44da4dda" providerId="LiveId" clId="{F82856EF-F278-478E-A4FF-180017A75436}" dt="2026-03-28T13:22:57.390" v="229" actId="404"/>
          <ac:spMkLst>
            <pc:docMk/>
            <pc:sldMk cId="0" sldId="262"/>
            <ac:spMk id="4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3:07.719" v="230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3:11.922" v="231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19.206" v="388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25.814" v="390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54.087" v="402" actId="20577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4:08.275" v="247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4:17.502" v="252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4:35.798" v="259" actId="478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4:35.802" v="261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4:50.563" v="266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29.398" v="391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04.220" v="386" actId="14100"/>
          <ac:spMkLst>
            <pc:docMk/>
            <pc:sldMk cId="0" sldId="262"/>
            <ac:spMk id="20" creationId="{00000000-0000-0000-0000-000000000000}"/>
          </ac:spMkLst>
        </pc:spChg>
        <pc:spChg chg="add del mod">
          <ac:chgData name="凪 稲葉" userId="53d8837c44da4dda" providerId="LiveId" clId="{F82856EF-F278-478E-A4FF-180017A75436}" dt="2026-03-28T13:27:11.263" v="335" actId="478"/>
          <ac:spMkLst>
            <pc:docMk/>
            <pc:sldMk cId="0" sldId="262"/>
            <ac:spMk id="21" creationId="{00000000-0000-0000-0000-000000000000}"/>
          </ac:spMkLst>
        </pc:spChg>
        <pc:spChg chg="add del mod">
          <ac:chgData name="凪 稲葉" userId="53d8837c44da4dda" providerId="LiveId" clId="{F82856EF-F278-478E-A4FF-180017A75436}" dt="2026-03-28T13:27:11.263" v="337"/>
          <ac:spMkLst>
            <pc:docMk/>
            <pc:sldMk cId="0" sldId="262"/>
            <ac:spMk id="22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7:39.596" v="356"/>
          <ac:spMkLst>
            <pc:docMk/>
            <pc:sldMk cId="0" sldId="262"/>
            <ac:spMk id="23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7:39.596" v="358"/>
          <ac:spMkLst>
            <pc:docMk/>
            <pc:sldMk cId="0" sldId="262"/>
            <ac:spMk id="24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32.915" v="392" actId="403"/>
          <ac:spMkLst>
            <pc:docMk/>
            <pc:sldMk cId="0" sldId="262"/>
            <ac:spMk id="26" creationId="{00000000-0000-0000-0000-000000000000}"/>
          </ac:spMkLst>
        </pc:spChg>
        <pc:spChg chg="mod">
          <ac:chgData name="凪 稲葉" userId="53d8837c44da4dda" providerId="LiveId" clId="{F82856EF-F278-478E-A4FF-180017A75436}" dt="2026-03-28T13:29:08.576" v="387" actId="14100"/>
          <ac:spMkLst>
            <pc:docMk/>
            <pc:sldMk cId="0" sldId="262"/>
            <ac:spMk id="27" creationId="{00000000-0000-0000-0000-000000000000}"/>
          </ac:spMkLst>
        </pc:spChg>
        <pc:spChg chg="del mod">
          <ac:chgData name="凪 稲葉" userId="53d8837c44da4dda" providerId="LiveId" clId="{F82856EF-F278-478E-A4FF-180017A75436}" dt="2026-03-28T13:28:47.882" v="384"/>
          <ac:spMkLst>
            <pc:docMk/>
            <pc:sldMk cId="0" sldId="262"/>
            <ac:spMk id="28" creationId="{00000000-0000-0000-0000-000000000000}"/>
          </ac:spMkLst>
        </pc:spChg>
      </pc:sldChg>
      <pc:sldChg chg="modSp mod">
        <pc:chgData name="凪 稲葉" userId="53d8837c44da4dda" providerId="LiveId" clId="{F82856EF-F278-478E-A4FF-180017A75436}" dt="2026-03-28T13:31:05.839" v="416" actId="14100"/>
        <pc:sldMkLst>
          <pc:docMk/>
          <pc:sldMk cId="0" sldId="263"/>
        </pc:sldMkLst>
        <pc:spChg chg="mod">
          <ac:chgData name="凪 稲葉" userId="53d8837c44da4dda" providerId="LiveId" clId="{F82856EF-F278-478E-A4FF-180017A75436}" dt="2026-03-28T13:30:20.142" v="404" actId="404"/>
          <ac:spMkLst>
            <pc:docMk/>
            <pc:sldMk cId="0" sldId="263"/>
            <ac:spMk id="4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0:28.770" v="405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0:35.632" v="407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0:41.680" v="408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0:45.825" v="409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0:53.419" v="412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1:00.592" v="414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0:57.305" v="413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1:05.839" v="416" actId="14100"/>
          <ac:spMkLst>
            <pc:docMk/>
            <pc:sldMk cId="0" sldId="263"/>
            <ac:spMk id="17" creationId="{00000000-0000-0000-0000-000000000000}"/>
          </ac:spMkLst>
        </pc:spChg>
      </pc:sldChg>
      <pc:sldChg chg="modSp mod">
        <pc:chgData name="凪 稲葉" userId="53d8837c44da4dda" providerId="LiveId" clId="{F82856EF-F278-478E-A4FF-180017A75436}" dt="2026-03-28T13:31:23.419" v="423" actId="14100"/>
        <pc:sldMkLst>
          <pc:docMk/>
          <pc:sldMk cId="0" sldId="264"/>
        </pc:sldMkLst>
        <pc:spChg chg="mod">
          <ac:chgData name="凪 稲葉" userId="53d8837c44da4dda" providerId="LiveId" clId="{F82856EF-F278-478E-A4FF-180017A75436}" dt="2026-03-28T13:31:23.419" v="423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凪 稲葉" userId="53d8837c44da4dda" providerId="LiveId" clId="{F82856EF-F278-478E-A4FF-180017A75436}" dt="2026-03-28T13:31:17.342" v="421" actId="20577"/>
          <ac:spMkLst>
            <pc:docMk/>
            <pc:sldMk cId="0" sldId="264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46C8-ADB0-492C-8654-A344012F212F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54775-0B92-4490-A65F-CD7807B1E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904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54775-0B92-4490-A65F-CD7807B1EC7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06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panalysis-webapp.streamlit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Nagi-Inaba/IPanalysi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dirty="0"/>
              <a:t>IP Analysis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rPr dirty="0"/>
              <a:t>Python </a:t>
            </a:r>
            <a:r>
              <a:rPr dirty="0" err="1"/>
              <a:t>スクリプトから</a:t>
            </a:r>
            <a:r>
              <a:rPr dirty="0"/>
              <a:t> Web </a:t>
            </a:r>
            <a:r>
              <a:rPr dirty="0" err="1"/>
              <a:t>アプリへ</a:t>
            </a:r>
            <a:br>
              <a:rPr dirty="0"/>
            </a:br>
            <a:r>
              <a:rPr dirty="0"/>
              <a:t>Claude Code </a:t>
            </a:r>
            <a:r>
              <a:rPr dirty="0" err="1"/>
              <a:t>で特許分析ツールを作り直した話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009696"/>
                </a:solidFill>
                <a:latin typeface="Noto Sans JP"/>
              </a:defRPr>
            </a:pPr>
            <a:r>
              <a:rPr dirty="0"/>
              <a:t>Lightning Talk  |  </a:t>
            </a:r>
            <a:r>
              <a:rPr dirty="0" err="1"/>
              <a:t>知財ツール開発者オフ会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noFill/>
          <a:ln w="25400">
            <a:solidFill>
              <a:srgbClr val="E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2011680"/>
            <a:ext cx="2011680" cy="2011680"/>
          </a:xfrm>
          <a:prstGeom prst="ellipse">
            <a:avLst/>
          </a:prstGeom>
          <a:noFill/>
          <a:ln w="19050">
            <a:solidFill>
              <a:srgbClr val="E8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02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27432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 err="1"/>
              <a:t>自己紹介</a:t>
            </a:r>
            <a:endParaRPr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200528"/>
            <a:ext cx="3657600" cy="10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5400" dirty="0"/>
              <a:t>稲葉 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561310"/>
            <a:ext cx="2743200" cy="462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rPr sz="3600" dirty="0"/>
              <a:t>Nagi Inaba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rPr dirty="0" err="1"/>
              <a:t>所属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大阪工業大学大学院</a:t>
            </a:r>
            <a:r>
              <a:rPr dirty="0"/>
              <a:t> </a:t>
            </a:r>
            <a:r>
              <a:rPr dirty="0" err="1"/>
              <a:t>知的財産研究科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小林誠ゼミ（シクロハイジア</a:t>
            </a:r>
            <a:r>
              <a:rPr dirty="0"/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経歴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沼津高専</a:t>
            </a:r>
            <a:r>
              <a:rPr dirty="0"/>
              <a:t> </a:t>
            </a:r>
            <a:r>
              <a:rPr dirty="0" err="1"/>
              <a:t>電気電子工学科</a:t>
            </a:r>
            <a:r>
              <a:rPr dirty="0"/>
              <a:t> </a:t>
            </a:r>
            <a:r>
              <a:rPr dirty="0" err="1"/>
              <a:t>卒業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大阪工業大学</a:t>
            </a:r>
            <a:r>
              <a:rPr dirty="0"/>
              <a:t> </a:t>
            </a:r>
            <a:r>
              <a:rPr dirty="0" err="1"/>
              <a:t>知的財産学部</a:t>
            </a:r>
            <a:r>
              <a:rPr dirty="0"/>
              <a:t> </a:t>
            </a:r>
            <a:r>
              <a:rPr dirty="0" err="1"/>
              <a:t>卒業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専門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5029200" cy="1551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特許情報分析（IPランドスケープ</a:t>
            </a:r>
            <a:r>
              <a:rPr dirty="0"/>
              <a:t>）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知財戦略・M&amp;A知財評価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ツール開発</a:t>
            </a:r>
            <a:br>
              <a:rPr lang="en-US" dirty="0"/>
            </a:br>
            <a:r>
              <a:rPr lang="en-US" dirty="0"/>
              <a:t>-</a:t>
            </a:r>
            <a:r>
              <a:rPr dirty="0"/>
              <a:t>（Python / Web </a:t>
            </a:r>
            <a:r>
              <a:rPr dirty="0" err="1"/>
              <a:t>アプリ</a:t>
            </a:r>
            <a:r>
              <a:rPr dirty="0"/>
              <a:t>(Next.js)）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86000"/>
            <a:ext cx="1353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rPr dirty="0" err="1"/>
              <a:t>資格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0" y="2743200"/>
            <a:ext cx="6556248" cy="11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/>
              <a:t>2級知的財産管理技能士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知的財産アナリスト（特許</a:t>
            </a:r>
            <a:r>
              <a:rPr dirty="0"/>
              <a:t>）</a:t>
            </a:r>
            <a:r>
              <a:rPr lang="en-US" dirty="0"/>
              <a:t>-</a:t>
            </a:r>
            <a:r>
              <a:rPr dirty="0"/>
              <a:t> 3月31日 </a:t>
            </a:r>
            <a:r>
              <a:rPr dirty="0" err="1"/>
              <a:t>合格発表予定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紅茶検定上級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0" y="4270248"/>
            <a:ext cx="3236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rPr dirty="0" err="1"/>
              <a:t>実務経験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486400" y="4846320"/>
            <a:ext cx="5760720" cy="193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弁理士事務所</a:t>
            </a:r>
            <a:r>
              <a:rPr lang="ja-JP" altLang="en-US" dirty="0"/>
              <a:t>長期</a:t>
            </a:r>
            <a:r>
              <a:rPr dirty="0" err="1"/>
              <a:t>インターン</a:t>
            </a:r>
            <a:r>
              <a:rPr lang="en-US" dirty="0"/>
              <a:t>(2025/11-</a:t>
            </a:r>
            <a:r>
              <a:rPr lang="en-US" altLang="ja-JP" dirty="0"/>
              <a:t>)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lang="en-US" dirty="0"/>
              <a:t>- </a:t>
            </a:r>
            <a:r>
              <a:rPr dirty="0" err="1"/>
              <a:t>業務効率化ツール開発・特許出願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知財コンサルティングファーム</a:t>
            </a:r>
            <a:r>
              <a:rPr dirty="0"/>
              <a:t> </a:t>
            </a:r>
            <a:r>
              <a:rPr lang="ja-JP" altLang="en-US" dirty="0"/>
              <a:t>長期</a:t>
            </a:r>
            <a:r>
              <a:rPr dirty="0" err="1"/>
              <a:t>インターン</a:t>
            </a:r>
            <a:r>
              <a:rPr lang="en-US" dirty="0"/>
              <a:t>(2025/12-)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lang="en-US" dirty="0"/>
              <a:t>- </a:t>
            </a:r>
            <a:r>
              <a:rPr lang="ja-JP" altLang="en-US" dirty="0"/>
              <a:t>特許情報分析手法の考案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03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99816"/>
            <a:ext cx="4572000" cy="10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 err="1"/>
              <a:t>個人開発</a:t>
            </a:r>
            <a:endParaRPr sz="48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C49833"/>
                </a:solidFill>
                <a:latin typeface="Noto Sans JP"/>
              </a:defRPr>
            </a:pPr>
            <a:r>
              <a:rPr dirty="0" err="1"/>
              <a:t>万博予約自動化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t>大阪万博来場予約自動化スクリプトの作成・販売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090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rPr dirty="0" err="1"/>
              <a:t>街頭演説マップ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3593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選挙の街頭演説を地図上で可視化。誰がいつ実施中・予定なのかをピンポイントで表示（チームみらい用</a:t>
            </a:r>
            <a:r>
              <a:rPr dirty="0"/>
              <a:t>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5902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rPr dirty="0" err="1"/>
              <a:t>ポスティングマップ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" y="50932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国勢調査のデータを使用し、ターゲットが多いエリアを探して効率よくポスティングできる</a:t>
            </a:r>
            <a:r>
              <a:rPr dirty="0"/>
              <a:t> Web </a:t>
            </a:r>
            <a:r>
              <a:rPr dirty="0" err="1"/>
              <a:t>アプリ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04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C49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10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/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841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C49833"/>
                </a:solidFill>
                <a:latin typeface="Noto Sans JP"/>
              </a:defRPr>
            </a:pPr>
            <a:r>
              <a:rPr dirty="0"/>
              <a:t>Python </a:t>
            </a:r>
            <a:r>
              <a:rPr dirty="0" err="1"/>
              <a:t>スクリプト時代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やっていたこと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t>CKSweb から CSV をダウンロード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t>Python スクリプトで CSV を整理・集計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t>特許分類増減率の計算、出願人カウントなどを pandas で処理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6791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C49833"/>
                </a:solidFill>
                <a:latin typeface="Noto Sans JP"/>
              </a:defRPr>
            </a:pPr>
            <a:r>
              <a:rPr dirty="0" err="1"/>
              <a:t>毎回手作業だったこと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41655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/>
              <a:t>Excel </a:t>
            </a:r>
            <a:r>
              <a:rPr dirty="0" err="1"/>
              <a:t>でテーブルを範囲選択してグラフ化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グラフの書式設定（軸ラベル、色、凡例）を毎回手動</a:t>
            </a:r>
            <a:endParaRPr dirty="0"/>
          </a:p>
          <a:p>
            <a:pPr>
              <a:lnSpc>
                <a:spcPts val="2800"/>
              </a:lnSpc>
              <a:spcAft>
                <a:spcPts val="200"/>
              </a:spcAft>
              <a:defRPr sz="200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分析のたびに同じ作業を繰り返す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C49833"/>
                </a:solidFill>
                <a:latin typeface="Noto Sans JP"/>
              </a:defRPr>
            </a:pPr>
            <a:r>
              <a:t>課題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5303520" cy="109728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 w="12700">
            <a:solidFill>
              <a:srgbClr val="C49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t>集計ロジックは自動化できたが、</a:t>
            </a:r>
            <a:br/>
            <a:r>
              <a:t>可視化が毎回手作業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37560"/>
            <a:ext cx="5303520" cy="109728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 w="12700">
            <a:solidFill>
              <a:srgbClr val="C49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474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t>分析結果を他人に共有するのが面倒</a:t>
            </a:r>
            <a:br/>
            <a:r>
              <a:t>（Excel ファイルを渡すしかない）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617720"/>
            <a:ext cx="5303520" cy="109728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 w="12700">
            <a:solidFill>
              <a:srgbClr val="C49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754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1A1A1A"/>
                </a:solidFill>
                <a:latin typeface="Noto Sans JP"/>
              </a:defRPr>
            </a:pPr>
            <a:r>
              <a:t>コードが 1ファイル 1,000行超 に肥大化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05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10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/>
              <a:t>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8608" y="92577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009696"/>
                </a:solidFill>
                <a:latin typeface="Noto Sans JP"/>
              </a:defRPr>
            </a:pPr>
            <a:r>
              <a:rPr dirty="0"/>
              <a:t>Claude Code で Web </a:t>
            </a:r>
            <a:r>
              <a:rPr dirty="0" err="1"/>
              <a:t>アプリ化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oto Sans JP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0584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sz="2400" dirty="0" err="1"/>
              <a:t>Streamlit</a:t>
            </a:r>
            <a:r>
              <a:rPr sz="2400" dirty="0"/>
              <a:t> で Web UI 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 err="1"/>
              <a:t>ファイルアップロード</a:t>
            </a:r>
            <a:r>
              <a:rPr sz="2000" dirty="0"/>
              <a:t> → </a:t>
            </a:r>
            <a:r>
              <a:rPr sz="2000" dirty="0" err="1"/>
              <a:t>前処理</a:t>
            </a:r>
            <a:r>
              <a:rPr sz="2000" dirty="0"/>
              <a:t> → </a:t>
            </a:r>
            <a:r>
              <a:rPr sz="2000" dirty="0" err="1"/>
              <a:t>集計</a:t>
            </a:r>
            <a:r>
              <a:rPr sz="2000" dirty="0"/>
              <a:t> → </a:t>
            </a:r>
            <a:r>
              <a:rPr sz="2000" dirty="0" err="1"/>
              <a:t>グラフ</a:t>
            </a:r>
            <a:r>
              <a:rPr sz="2000" dirty="0"/>
              <a:t> の3ステップ。ブラウザで完結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oto Sans JP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100584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sz="2400" dirty="0"/>
              <a:t>Altair </a:t>
            </a:r>
            <a:r>
              <a:rPr sz="2400" dirty="0" err="1"/>
              <a:t>でグラフ自動生成</a:t>
            </a:r>
            <a:endParaRPr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/>
              <a:t>15種以上のインタラクティブチャート。ツールチップ、ズーム、フィルタが標準装備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oto Sans JP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100584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sz="2400" dirty="0" err="1"/>
              <a:t>データ形式の自動判定</a:t>
            </a:r>
            <a:endParaRPr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097280" y="3913302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 err="1"/>
              <a:t>CKSweb</a:t>
            </a:r>
            <a:r>
              <a:rPr sz="2000" dirty="0"/>
              <a:t> / J-</a:t>
            </a:r>
            <a:r>
              <a:rPr sz="2000" dirty="0" err="1"/>
              <a:t>PlatPat</a:t>
            </a:r>
            <a:r>
              <a:rPr sz="2000" dirty="0"/>
              <a:t> / Questel </a:t>
            </a:r>
            <a:r>
              <a:rPr sz="2000" dirty="0" err="1"/>
              <a:t>の列名パターンで自動検出</a:t>
            </a:r>
            <a:endParaRPr sz="2000" dirty="0"/>
          </a:p>
        </p:txBody>
      </p:sp>
      <p:sp>
        <p:nvSpPr>
          <p:cNvPr id="15" name="Oval 14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oto Sans JP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07738"/>
            <a:ext cx="100584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sz="2400" dirty="0" err="1"/>
              <a:t>出願人名寄せの内蔵</a:t>
            </a:r>
            <a:endParaRPr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/>
              <a:t>JSON </a:t>
            </a:r>
            <a:r>
              <a:rPr sz="2000" dirty="0" err="1"/>
              <a:t>辞書ベースで表記揺れを統一。GUI</a:t>
            </a:r>
            <a:r>
              <a:rPr sz="2000" dirty="0"/>
              <a:t> </a:t>
            </a:r>
            <a:r>
              <a:rPr sz="2000" dirty="0" err="1"/>
              <a:t>で編集・インポート・エクスポート可能</a:t>
            </a:r>
            <a:endParaRPr sz="2000" dirty="0"/>
          </a:p>
        </p:txBody>
      </p:sp>
      <p:sp>
        <p:nvSpPr>
          <p:cNvPr id="18" name="Oval 17"/>
          <p:cNvSpPr/>
          <p:nvPr/>
        </p:nvSpPr>
        <p:spPr>
          <a:xfrm>
            <a:off x="457200" y="5440680"/>
            <a:ext cx="457200" cy="45720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Noto Sans JP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dirty="0"/>
              <a:t>1,069行 → 4ファイル分割リファクタリング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/>
              <a:t>app.py (455行) + charts.py (555行) + cached_agg.py (70行) + constants.py (44行)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06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457200"/>
            <a:ext cx="5286375" cy="102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 err="1"/>
              <a:t>技術スタック</a:t>
            </a:r>
            <a:endParaRPr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コア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7315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技術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選定理由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Python 3.8+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言語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特許分析ライブラリとの親和性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Web UI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Python だけで UI が書ける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データ処理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CSV/Excel の読み込み・集計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openpyxl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Excel I/O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xlsx の読み書き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Altair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可視化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宣言的 API、Vega-Lite ベース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インフラ・運用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2920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技術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Streamlit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ホスティング（GitHub 連携自動デプロイ）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テスト（31テスト）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ソースコード管理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開発ツール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0" y="1828800"/>
          <a:ext cx="3291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ツール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Noto Sans JP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00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コーディング・リファクタ・テスト生成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Git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  <a:latin typeface="Noto Sans JP"/>
                        </a:defRPr>
                      </a:pPr>
                      <a:r>
                        <a:t>バージョン管理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07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10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 err="1"/>
              <a:t>分析機能</a:t>
            </a:r>
            <a:endParaRPr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3429000" y="557784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Aft>
                <a:spcPts val="0"/>
              </a:spcAft>
              <a:defRPr sz="4800" b="1">
                <a:solidFill>
                  <a:srgbClr val="009696"/>
                </a:solidFill>
                <a:latin typeface="Noto Sans JP"/>
              </a:defRPr>
            </a:pPr>
            <a:r>
              <a:rPr dirty="0"/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6260" y="7543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A1628"/>
                </a:solidFill>
                <a:latin typeface="Noto Sans JP"/>
              </a:defRPr>
            </a:pPr>
            <a:r>
              <a:rPr dirty="0"/>
              <a:t>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560320" cy="5029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009696"/>
                </a:solidFill>
                <a:latin typeface="Noto Sans JP"/>
              </a:defRPr>
            </a:pPr>
            <a:r>
              <a:rPr sz="2000"/>
              <a:t>出願動向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dirty="0"/>
              <a:t>・ </a:t>
            </a:r>
            <a:r>
              <a:rPr dirty="0" err="1"/>
              <a:t>出願件数推移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200400" y="1463040"/>
            <a:ext cx="2560320" cy="5029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527048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009696"/>
                </a:solidFill>
                <a:latin typeface="Noto Sans JP"/>
              </a:defRPr>
            </a:pPr>
            <a:r>
              <a:rPr sz="2000" dirty="0" err="1"/>
              <a:t>特許分類</a:t>
            </a:r>
            <a:r>
              <a:rPr sz="2000" dirty="0"/>
              <a:t> / </a:t>
            </a:r>
            <a:r>
              <a:rPr sz="2000" dirty="0" err="1"/>
              <a:t>Fターム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3154680" y="2103120"/>
            <a:ext cx="28072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3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 err="1"/>
              <a:t>特許分類増減率（バブル</a:t>
            </a:r>
            <a:r>
              <a:rPr lang="ja-JP" altLang="en-US" sz="2000" dirty="0"/>
              <a:t>）</a:t>
            </a:r>
            <a:endParaRPr lang="en-US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特許分類集計</a:t>
            </a:r>
            <a:endParaRPr lang="en-US" altLang="ja-JP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分類別 年次ヒートマップ</a:t>
            </a:r>
            <a:endParaRPr lang="en-US" altLang="ja-JP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分類ツリーマップ</a:t>
            </a:r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en-US" altLang="ja-JP" sz="2000" dirty="0"/>
              <a:t>F</a:t>
            </a:r>
            <a:r>
              <a:rPr lang="ja-JP" altLang="en-US" sz="2000" dirty="0"/>
              <a:t>ターム分布</a:t>
            </a:r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en-US" altLang="ja-JP" sz="2000" dirty="0"/>
              <a:t>F</a:t>
            </a:r>
            <a:r>
              <a:rPr lang="ja-JP" altLang="en-US" sz="2000" dirty="0"/>
              <a:t>ターム年次ヒートマップ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2560320" cy="5029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52704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009696"/>
                </a:solidFill>
                <a:latin typeface="Noto Sans JP"/>
              </a:defRPr>
            </a:pPr>
            <a:r>
              <a:rPr sz="2000" dirty="0" err="1"/>
              <a:t>出願人</a:t>
            </a:r>
            <a:endParaRPr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6700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3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 err="1"/>
              <a:t>ランキング（筆頭</a:t>
            </a:r>
            <a:r>
              <a:rPr sz="2000" dirty="0"/>
              <a:t> / </a:t>
            </a:r>
            <a:r>
              <a:rPr sz="2000" dirty="0" err="1"/>
              <a:t>全体</a:t>
            </a:r>
            <a:r>
              <a:rPr sz="2000" dirty="0"/>
              <a:t>）</a:t>
            </a:r>
            <a:endParaRPr lang="en-US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増減率 </a:t>
            </a:r>
            <a:r>
              <a:rPr lang="en-US" altLang="ja-JP" sz="2000" dirty="0"/>
              <a:t>/ </a:t>
            </a:r>
            <a:r>
              <a:rPr lang="ja-JP" altLang="en-US" sz="2000" dirty="0"/>
              <a:t>年次推移 </a:t>
            </a:r>
            <a:r>
              <a:rPr lang="en-US" altLang="ja-JP" sz="2000" dirty="0"/>
              <a:t>/ </a:t>
            </a:r>
            <a:r>
              <a:rPr lang="ja-JP" altLang="en-US" sz="2000" dirty="0"/>
              <a:t>シェア</a:t>
            </a:r>
            <a:endParaRPr lang="en-US" altLang="ja-JP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参入退出分析</a:t>
            </a:r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出願人 </a:t>
            </a:r>
            <a:r>
              <a:rPr lang="en-US" altLang="ja-JP" sz="2000" dirty="0"/>
              <a:t>× </a:t>
            </a:r>
            <a:r>
              <a:rPr lang="ja-JP" altLang="en-US" sz="2000" dirty="0"/>
              <a:t>分類 ヒートマップ</a:t>
            </a:r>
            <a:endParaRPr lang="en-US" altLang="ja-JP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共同出願ネットワーク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463040"/>
            <a:ext cx="2560320" cy="5029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152704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009696"/>
                </a:solidFill>
                <a:latin typeface="Noto Sans JP"/>
              </a:defRPr>
            </a:pPr>
            <a:r>
              <a:rPr sz="2000" dirty="0" err="1"/>
              <a:t>引用</a:t>
            </a:r>
            <a:endParaRPr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9509760" y="2103120"/>
            <a:ext cx="2682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3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sz="2000" dirty="0" err="1"/>
              <a:t>被引用ポジショニングマップ</a:t>
            </a:r>
            <a:endParaRPr lang="en-US" sz="2000" dirty="0"/>
          </a:p>
          <a:p>
            <a:pPr marL="285750" indent="-285750">
              <a:lnSpc>
                <a:spcPts val="2430"/>
              </a:lnSpc>
              <a:buFont typeface="Arial" panose="020B0604020202020204" pitchFamily="34" charset="0"/>
              <a:buChar char="•"/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lang="ja-JP" altLang="en-US" sz="2000" dirty="0"/>
              <a:t>被引用出願一覧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08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rPr sz="4800" dirty="0"/>
              <a:t>Claude Code </a:t>
            </a:r>
            <a:r>
              <a:rPr sz="4800" dirty="0" err="1"/>
              <a:t>で開発して感じたこと</a:t>
            </a:r>
            <a:endParaRPr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よかったこと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dirty="0" err="1"/>
              <a:t>プロトタイプが爆速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17220" y="2496312"/>
            <a:ext cx="5288281" cy="378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Streamlit</a:t>
            </a:r>
            <a:r>
              <a:rPr dirty="0"/>
              <a:t> + Altair </a:t>
            </a:r>
            <a:r>
              <a:rPr dirty="0" err="1"/>
              <a:t>の組み合わせを提案してくれた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t>リファクタリングが楽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t>1,069行 → 4ファイル分割を一発で実行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33088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dirty="0" err="1"/>
              <a:t>テスト生成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17220" y="4572000"/>
            <a:ext cx="5478780" cy="378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dirty="0" err="1"/>
              <a:t>分析ロジックの</a:t>
            </a:r>
            <a:r>
              <a:rPr dirty="0"/>
              <a:t> </a:t>
            </a:r>
            <a:r>
              <a:rPr dirty="0" err="1"/>
              <a:t>pytest</a:t>
            </a:r>
            <a:r>
              <a:rPr dirty="0"/>
              <a:t> を自動生成（31テスト）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95023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" y="5212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rPr dirty="0" err="1"/>
              <a:t>データ形式対応の追加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17220" y="5596128"/>
            <a:ext cx="5079492" cy="378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rPr dirty="0"/>
              <a:t>Questel Orbit </a:t>
            </a:r>
            <a:r>
              <a:rPr dirty="0" err="1"/>
              <a:t>対応を列名パターンから自動実装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C49833"/>
                </a:solidFill>
                <a:latin typeface="Noto Sans JP"/>
              </a:defRPr>
            </a:pPr>
            <a:r>
              <a:t>気をつけていること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t>動作確認は必ず自分で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t>生成コードは必ず動作確認してから採用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0896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200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t>ドメイン知識は人間が持つ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t>特許分析の文脈は Claude が知らない領域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60520"/>
            <a:ext cx="5303520" cy="960120"/>
          </a:xfrm>
          <a:prstGeom prst="roundRect">
            <a:avLst>
              <a:gd name="adj" fmla="val 4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2000" b="1">
                <a:solidFill>
                  <a:srgbClr val="0A1628"/>
                </a:solidFill>
                <a:latin typeface="Noto Sans JP"/>
              </a:defRPr>
            </a:pPr>
            <a:r>
              <a:t>計画 → テスト → 実装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t>大きな変更は段階的に進める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02975" y="182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99AA"/>
                </a:solidFill>
                <a:latin typeface="Noto Sans JP"/>
              </a:defRPr>
            </a:pPr>
            <a:r>
              <a:t>09 /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0" y="731520"/>
            <a:ext cx="1097280" cy="635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30"/>
              </a:lnSpc>
              <a:spcAft>
                <a:spcPts val="0"/>
              </a:spcAft>
              <a:defRPr sz="5800" b="1">
                <a:solidFill>
                  <a:srgbClr val="0A1628"/>
                </a:solidFill>
                <a:latin typeface="Noto Sans JP"/>
              </a:defRPr>
            </a:pPr>
            <a:r>
              <a:t>Demo &amp; Repository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1031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ライブデモ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5029200" cy="686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009696"/>
                </a:solidFill>
                <a:latin typeface="Noto Sans JP"/>
              </a:defRPr>
            </a:pPr>
            <a:r>
              <a:rPr dirty="0">
                <a:hlinkClick r:id="rId3"/>
              </a:rPr>
              <a:t>https://ipanalysis-webapp.streamlit.app/</a:t>
            </a:r>
            <a:endParaRPr lang="en-US" dirty="0"/>
          </a:p>
          <a:p>
            <a:pPr algn="ctr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009696"/>
                </a:solidFill>
                <a:latin typeface="Noto Sans JP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t>アカウント不要・無料・サンプルデータ内蔵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1031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780"/>
              </a:lnSpc>
              <a:spcAft>
                <a:spcPts val="0"/>
              </a:spcAft>
              <a:defRPr sz="2800" b="1">
                <a:solidFill>
                  <a:srgbClr val="009696"/>
                </a:solidFill>
                <a:latin typeface="Noto Sans JP"/>
              </a:defRPr>
            </a:pPr>
            <a: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572000"/>
            <a:ext cx="5029200" cy="686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A1A1A"/>
                </a:solidFill>
                <a:latin typeface="Noto Sans JP"/>
              </a:defRPr>
            </a:pPr>
            <a:r>
              <a:rPr dirty="0">
                <a:hlinkClick r:id="rId5"/>
              </a:rPr>
              <a:t>https://github.com/Nagi-Inaba/IPanalysis</a:t>
            </a:r>
            <a:endParaRPr lang="en-US" dirty="0"/>
          </a:p>
          <a:p>
            <a:pPr algn="ctr">
              <a:lnSpc>
                <a:spcPts val="2430"/>
              </a:lnSpc>
              <a:spcAft>
                <a:spcPts val="0"/>
              </a:spcAft>
              <a:defRPr sz="1800" b="1">
                <a:solidFill>
                  <a:srgbClr val="1A1A1A"/>
                </a:solidFill>
                <a:latin typeface="Noto Sans JP"/>
              </a:defRPr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29200" y="5760720"/>
            <a:ext cx="1828800" cy="12700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30"/>
              </a:lnSpc>
              <a:spcAft>
                <a:spcPts val="0"/>
              </a:spcAft>
              <a:defRPr sz="1800" b="0">
                <a:solidFill>
                  <a:srgbClr val="1A1A1A"/>
                </a:solidFill>
                <a:latin typeface="Noto Sans JP"/>
              </a:defRPr>
            </a:pPr>
            <a:r>
              <a:t>稲葉 凪 — 大阪工業大学大学院 知的財産研究科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487</Words>
  <Application>Microsoft Office PowerPoint</Application>
  <PresentationFormat>ワイド画面</PresentationFormat>
  <Paragraphs>153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凪 稲葉</cp:lastModifiedBy>
  <cp:revision>1</cp:revision>
  <dcterms:created xsi:type="dcterms:W3CDTF">2013-01-27T09:14:16Z</dcterms:created>
  <dcterms:modified xsi:type="dcterms:W3CDTF">2026-03-28T13:31:30Z</dcterms:modified>
  <cp:category/>
</cp:coreProperties>
</file>